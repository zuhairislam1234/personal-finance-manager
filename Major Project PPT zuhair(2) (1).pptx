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</p:sldMasterIdLst>
  <p:notesMasterIdLst>
    <p:notesMasterId r:id="rId32"/>
  </p:notesMasterIdLst>
  <p:handoutMasterIdLst>
    <p:handoutMasterId r:id="rId33"/>
  </p:handoutMasterIdLst>
  <p:sldIdLst>
    <p:sldId id="384" r:id="rId17"/>
    <p:sldId id="385" r:id="rId18"/>
    <p:sldId id="386" r:id="rId19"/>
    <p:sldId id="387" r:id="rId20"/>
    <p:sldId id="388" r:id="rId21"/>
    <p:sldId id="399" r:id="rId22"/>
    <p:sldId id="400" r:id="rId23"/>
    <p:sldId id="389" r:id="rId24"/>
    <p:sldId id="390" r:id="rId25"/>
    <p:sldId id="391" r:id="rId26"/>
    <p:sldId id="403" r:id="rId27"/>
    <p:sldId id="404" r:id="rId28"/>
    <p:sldId id="392" r:id="rId29"/>
    <p:sldId id="402" r:id="rId30"/>
    <p:sldId id="395" r:id="rId31"/>
  </p:sldIdLst>
  <p:sldSz cx="13004800" cy="97536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1pPr>
    <a:lvl2pPr marL="4572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2pPr>
    <a:lvl3pPr marL="9144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AEB6"/>
    <a:srgbClr val="B51753"/>
    <a:srgbClr val="43A0A7"/>
    <a:srgbClr val="3B8B91"/>
    <a:srgbClr val="357D83"/>
    <a:srgbClr val="3399FF"/>
    <a:srgbClr val="0000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1" autoAdjust="0"/>
    <p:restoredTop sz="94444" autoAdjust="0"/>
  </p:normalViewPr>
  <p:slideViewPr>
    <p:cSldViewPr showGuides="1">
      <p:cViewPr varScale="1">
        <p:scale>
          <a:sx n="55" d="100"/>
          <a:sy n="55" d="100"/>
        </p:scale>
        <p:origin x="1306" y="43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15.xml"/><Relationship Id="rId30" Type="http://schemas.openxmlformats.org/officeDocument/2006/relationships/slide" Target="slides/slide1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3.xml"/><Relationship Id="rId28" Type="http://schemas.openxmlformats.org/officeDocument/2006/relationships/slide" Target="slides/slide12.xml"/><Relationship Id="rId27" Type="http://schemas.openxmlformats.org/officeDocument/2006/relationships/slide" Target="slides/slide11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24" Type="http://schemas.openxmlformats.org/officeDocument/2006/relationships/slide" Target="slides/slide8.xml"/><Relationship Id="rId23" Type="http://schemas.openxmlformats.org/officeDocument/2006/relationships/slide" Target="slides/slide7.xml"/><Relationship Id="rId22" Type="http://schemas.openxmlformats.org/officeDocument/2006/relationships/slide" Target="slides/slide6.xml"/><Relationship Id="rId21" Type="http://schemas.openxmlformats.org/officeDocument/2006/relationships/slide" Target="slides/slide5.xml"/><Relationship Id="rId20" Type="http://schemas.openxmlformats.org/officeDocument/2006/relationships/slide" Target="slides/slide4.xml"/><Relationship Id="rId2" Type="http://schemas.openxmlformats.org/officeDocument/2006/relationships/theme" Target="theme/theme1.xml"/><Relationship Id="rId19" Type="http://schemas.openxmlformats.org/officeDocument/2006/relationships/slide" Target="slides/slide3.xml"/><Relationship Id="rId18" Type="http://schemas.openxmlformats.org/officeDocument/2006/relationships/slide" Target="slides/slide2.xml"/><Relationship Id="rId17" Type="http://schemas.openxmlformats.org/officeDocument/2006/relationships/slide" Target="slides/slide1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8125F27-7924-4326-A585-67C5CA7233D1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C7A100DB-4E74-4FB2-8ABD-7092DA3AF259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fld id="{A5EF5327-60B6-4513-A97C-1D151EB3EB98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1D0F6E7-57E6-4F82-B6DB-0B78967D4FA6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0930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093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54000"/>
            <a:ext cx="2925762" cy="845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54000"/>
            <a:ext cx="8624888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43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98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310483" y="2010741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646238" y="1912938"/>
            <a:ext cx="90487" cy="904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2037419" y="511855"/>
            <a:ext cx="10533888" cy="2093773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2037419" y="2631202"/>
            <a:ext cx="10533888" cy="2492587"/>
          </a:xfrm>
        </p:spPr>
        <p:txBody>
          <a:bodyPr tIns="0"/>
          <a:lstStyle>
            <a:lvl1pPr marL="38735" indent="0" algn="l">
              <a:buNone/>
              <a:defRPr sz="37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650240" indent="0" algn="ctr">
              <a:buNone/>
            </a:lvl2pPr>
            <a:lvl3pPr marL="1300480" indent="0" algn="ctr">
              <a:buNone/>
            </a:lvl3pPr>
            <a:lvl4pPr marL="1950720" indent="0" algn="ctr">
              <a:buNone/>
            </a:lvl4pPr>
            <a:lvl5pPr marL="2600960" indent="0" algn="ctr">
              <a:buNone/>
            </a:lvl5pPr>
            <a:lvl6pPr marL="3251200" indent="0" algn="ctr">
              <a:buNone/>
            </a:lvl6pPr>
            <a:lvl7pPr marL="3901440" indent="0" algn="ctr">
              <a:buNone/>
            </a:lvl7pPr>
            <a:lvl8pPr marL="4551680" indent="0" algn="ctr">
              <a:buNone/>
            </a:lvl8pPr>
            <a:lvl9pPr marL="520192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BDEB5-21BE-4196-AA11-9092C303413C}" type="datetimeFigureOut">
              <a:rPr lang="en-US"/>
            </a:fld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764944-C5B7-48D6-B1ED-F475B7EAACE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46438" y="0"/>
            <a:ext cx="975360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3251200" y="0"/>
            <a:ext cx="10795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89523" y="4003067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424238" y="3905250"/>
            <a:ext cx="92075" cy="9048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046" y="3698240"/>
            <a:ext cx="9103360" cy="3251200"/>
          </a:xfrm>
        </p:spPr>
        <p:txBody>
          <a:bodyPr anchor="t"/>
          <a:lstStyle>
            <a:lvl1pPr algn="l">
              <a:lnSpc>
                <a:spcPts val="6400"/>
              </a:lnSpc>
              <a:buNone/>
              <a:defRPr sz="57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7046" y="1517227"/>
            <a:ext cx="9103360" cy="2147146"/>
          </a:xfrm>
        </p:spPr>
        <p:txBody>
          <a:bodyPr anchor="b"/>
          <a:lstStyle>
            <a:lvl1pPr marL="26035" indent="0">
              <a:lnSpc>
                <a:spcPts val="3270"/>
              </a:lnSpc>
              <a:spcBef>
                <a:spcPts val="0"/>
              </a:spcBef>
              <a:buNone/>
              <a:defRPr sz="28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7BE73-9272-4E7D-BD0B-5B5123F9D54D}" type="datetimeFigureOut">
              <a:rPr lang="en-US"/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05125-ACAC-42EB-9BF3-18B31522FE8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41754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03770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8BA07-7811-470C-A03E-FF3137DA5A6E}" type="datetimeFigureOut">
              <a:rPr lang="en-US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FD9E8-0C80-4830-885A-F2D3695FD3E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7339145"/>
            <a:ext cx="11704320" cy="1625600"/>
          </a:xfrm>
        </p:spPr>
        <p:txBody>
          <a:bodyPr/>
          <a:lstStyle>
            <a:lvl1pPr algn="ctr">
              <a:defRPr sz="6400" b="1" cap="none" baseline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0805" indent="0" algn="l">
              <a:lnSpc>
                <a:spcPct val="100000"/>
              </a:lnSpc>
              <a:spcBef>
                <a:spcPts val="140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32448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0805" indent="0" algn="l">
              <a:lnSpc>
                <a:spcPct val="100000"/>
              </a:lnSpc>
              <a:spcBef>
                <a:spcPts val="140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50240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435" indent="-389890">
              <a:lnSpc>
                <a:spcPct val="100000"/>
              </a:lnSpc>
              <a:spcBef>
                <a:spcPts val="995"/>
              </a:spcBef>
              <a:defRPr sz="3400"/>
            </a:lvl1pPr>
            <a:lvl2pPr>
              <a:lnSpc>
                <a:spcPct val="100000"/>
              </a:lnSpc>
              <a:spcBef>
                <a:spcPts val="995"/>
              </a:spcBef>
              <a:defRPr sz="2800"/>
            </a:lvl2pPr>
            <a:lvl3pPr>
              <a:lnSpc>
                <a:spcPct val="100000"/>
              </a:lnSpc>
              <a:spcBef>
                <a:spcPts val="995"/>
              </a:spcBef>
              <a:defRPr sz="2600"/>
            </a:lvl3pPr>
            <a:lvl4pPr>
              <a:lnSpc>
                <a:spcPct val="100000"/>
              </a:lnSpc>
              <a:spcBef>
                <a:spcPts val="995"/>
              </a:spcBef>
              <a:defRPr sz="2300"/>
            </a:lvl4pPr>
            <a:lvl5pPr>
              <a:lnSpc>
                <a:spcPct val="100000"/>
              </a:lnSpc>
              <a:spcBef>
                <a:spcPts val="995"/>
              </a:spcBef>
              <a:defRPr sz="23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2448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435" indent="-389890">
              <a:lnSpc>
                <a:spcPct val="100000"/>
              </a:lnSpc>
              <a:spcBef>
                <a:spcPts val="995"/>
              </a:spcBef>
              <a:defRPr sz="3400"/>
            </a:lvl1pPr>
            <a:lvl2pPr>
              <a:lnSpc>
                <a:spcPct val="100000"/>
              </a:lnSpc>
              <a:spcBef>
                <a:spcPts val="995"/>
              </a:spcBef>
              <a:defRPr sz="2800"/>
            </a:lvl2pPr>
            <a:lvl3pPr>
              <a:lnSpc>
                <a:spcPct val="100000"/>
              </a:lnSpc>
              <a:spcBef>
                <a:spcPts val="995"/>
              </a:spcBef>
              <a:defRPr sz="2600"/>
            </a:lvl3pPr>
            <a:lvl4pPr>
              <a:lnSpc>
                <a:spcPct val="100000"/>
              </a:lnSpc>
              <a:spcBef>
                <a:spcPts val="995"/>
              </a:spcBef>
              <a:defRPr sz="2300"/>
            </a:lvl4pPr>
            <a:lvl5pPr>
              <a:lnSpc>
                <a:spcPct val="100000"/>
              </a:lnSpc>
              <a:spcBef>
                <a:spcPts val="995"/>
              </a:spcBef>
              <a:defRPr sz="23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344DF-F2D8-47D3-A1A2-F2BA0FADDC8A}" type="datetimeFigureOut">
              <a:rPr lang="en-US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8F286-D16D-4C14-B8C1-AEB3377F720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9FE42-4D97-47DA-9957-FC4B88B7382D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1C867-080A-4421-B3AD-97329B9D265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3038" y="0"/>
            <a:ext cx="11561762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39010-9E70-434F-A0A0-C5EA2E7FE0D2}" type="datetimeFigureOut">
              <a:rPr lang="en-US"/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CA93D-A4F4-438E-AA12-7363D9CB7AD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08307"/>
            <a:ext cx="5418667" cy="1652693"/>
          </a:xfrm>
          <a:ln>
            <a:noFill/>
          </a:ln>
        </p:spPr>
        <p:txBody>
          <a:bodyPr anchor="b"/>
          <a:lstStyle>
            <a:lvl1pPr algn="l">
              <a:lnSpc>
                <a:spcPts val="2845"/>
              </a:lnSpc>
              <a:buNone/>
              <a:defRPr sz="3100" b="1" cap="all" baseline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50240" y="2001016"/>
            <a:ext cx="5418667" cy="993422"/>
          </a:xfrm>
        </p:spPr>
        <p:txBody>
          <a:bodyPr/>
          <a:lstStyle>
            <a:lvl1pPr marL="6477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50240" y="3034454"/>
            <a:ext cx="11595947" cy="5678312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528399-7386-45A7-8834-486F4B94D802}" type="datetimeFigureOut">
              <a:rPr lang="en-US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526C98-457C-495A-885B-B51F77EFA8F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3733" y="1517227"/>
            <a:ext cx="6502400" cy="65024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130046" tIns="390138" rIns="130046" bIns="65023">
            <a:normAutofit/>
          </a:bodyPr>
          <a:lstStyle/>
          <a:p>
            <a:pPr indent="-403225" eaLnBrk="1" hangingPunct="1">
              <a:lnSpc>
                <a:spcPts val="4265"/>
              </a:lnSpc>
              <a:spcBef>
                <a:spcPts val="85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lang="en-US" sz="4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563563" y="1357313"/>
            <a:ext cx="976312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7116763" y="1331913"/>
            <a:ext cx="922337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2474" y="1517227"/>
            <a:ext cx="3901440" cy="2817707"/>
          </a:xfrm>
        </p:spPr>
        <p:txBody>
          <a:bodyPr anchor="b">
            <a:noAutofit/>
          </a:bodyPr>
          <a:lstStyle>
            <a:lvl1pPr algn="l">
              <a:buNone/>
              <a:defRPr sz="3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2107" y="1625605"/>
            <a:ext cx="6285653" cy="4998444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390138">
            <a:normAutofit/>
          </a:bodyPr>
          <a:lstStyle>
            <a:lvl1pPr marL="0" indent="0" algn="l" eaLnBrk="1" latinLnBrk="0" hangingPunct="1">
              <a:buNone/>
              <a:defRPr sz="46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2107" y="6827520"/>
            <a:ext cx="6285653" cy="1083733"/>
          </a:xfrm>
        </p:spPr>
        <p:txBody>
          <a:bodyPr anchor="ctr"/>
          <a:lstStyle>
            <a:lvl1pPr marL="0" indent="0" algn="l">
              <a:lnSpc>
                <a:spcPts val="2275"/>
              </a:lnSpc>
              <a:spcBef>
                <a:spcPts val="0"/>
              </a:spcBef>
              <a:buNone/>
              <a:defRPr sz="2000">
                <a:solidFill>
                  <a:srgbClr val="777777"/>
                </a:solidFill>
              </a:defRPr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DB0DE-08A5-43FF-9FCD-FB364DA9D449}" type="datetimeFigureOut">
              <a:rPr lang="en-US"/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D714D2-3A5C-4C10-82C3-6BCA2647EE0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95A56A-3571-4FE4-B376-55F94E1FCB76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08728-4636-4AE1-87CF-7D261829F0F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3600" y="390598"/>
            <a:ext cx="2600960" cy="832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90600"/>
            <a:ext cx="7911253" cy="8322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A1504-0073-45D4-9420-14AEEB73A9D9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0F4B8-5C48-49EB-A75F-18DE72FA2C0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2" Type="http://schemas.openxmlformats.org/officeDocument/2006/relationships/theme" Target="../theme/theme12.xml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2" Type="http://schemas.openxmlformats.org/officeDocument/2006/relationships/theme" Target="../theme/theme13.xml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2" Type="http://schemas.openxmlformats.org/officeDocument/2006/relationships/theme" Target="../theme/theme14.xml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2" Type="http://schemas.openxmlformats.org/officeDocument/2006/relationships/theme" Target="../theme/theme15.xml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b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1270000"/>
            <a:ext cx="10464800" cy="7213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b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b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971800"/>
            <a:ext cx="10464800" cy="3810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5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4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9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31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3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5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5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4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9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31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3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5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72400" y="2768600"/>
            <a:ext cx="39624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5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4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9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31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3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5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5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4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9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31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3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5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160463" y="-1160463"/>
            <a:ext cx="2330451" cy="2330451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39713" y="30163"/>
            <a:ext cx="2420937" cy="242093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60098" y="1500554"/>
            <a:ext cx="1601020" cy="1568176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39863" y="0"/>
            <a:ext cx="11564937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</p:spPr>
        <p:txBody>
          <a:bodyPr lIns="130046" tIns="65023" rIns="130046" bIns="65023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4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2041525" y="2058988"/>
            <a:ext cx="10664825" cy="68278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0046" tIns="65023" rIns="130046" bIns="65023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fld id="{DF934E36-D68C-41C0-B698-58393200FF86}" type="datetimeFigureOut">
              <a:rPr lang="en-US"/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eaLnBrk="1" latinLnBrk="0" hangingPunct="1">
              <a:defRPr kumimoji="0" sz="1700">
                <a:solidFill>
                  <a:schemeClr val="bg2">
                    <a:shade val="50000"/>
                  </a:schemeClr>
                </a:solidFill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ct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pPr>
              <a:defRPr/>
            </a:pPr>
            <a:fld id="{0AF91225-6B8A-4A10-AFA6-F845D109664A}" type="slidenum">
              <a:rPr lang="en-US"/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61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2pPr>
      <a:lvl3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3pPr>
      <a:lvl4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4pPr>
      <a:lvl5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9pPr>
    </p:titleStyle>
    <p:bodyStyle>
      <a:lvl1pPr marL="519430" indent="-401955" algn="l" rtl="0" fontAlgn="base">
        <a:spcBef>
          <a:spcPts val="85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909955" indent="-336550" algn="l" rtl="0" fontAlgn="base">
        <a:spcBef>
          <a:spcPts val="790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260475" indent="-3238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0830" indent="-246380" algn="l" rtl="0" fontAlgn="base">
        <a:spcBef>
          <a:spcPct val="20000"/>
        </a:spcBef>
        <a:spcAft>
          <a:spcPct val="0"/>
        </a:spcAft>
        <a:buClr>
          <a:srgbClr val="C32D2E"/>
        </a:buClr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6580" indent="-259080" algn="l" rtl="0" fontAlgn="base">
        <a:spcBef>
          <a:spcPct val="20000"/>
        </a:spcBef>
        <a:spcAft>
          <a:spcPct val="0"/>
        </a:spcAft>
        <a:buClr>
          <a:srgbClr val="84AA33"/>
        </a:buClr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5665" indent="-26035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4750" indent="-26035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2731135" indent="-26035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030220" indent="-26035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51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014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019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5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6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6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6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/>
          <p:cNvPicPr>
            <a:picLocks noChangeAspect="1" noChangeArrowheads="1"/>
          </p:cNvPicPr>
          <p:nvPr/>
        </p:nvPicPr>
        <p:blipFill>
          <a:blip r:embed="rId1"/>
          <a:srcRect t="18021" b="16660"/>
          <a:stretch>
            <a:fillRect/>
          </a:stretch>
        </p:blipFill>
        <p:spPr bwMode="auto">
          <a:xfrm>
            <a:off x="4273550" y="304800"/>
            <a:ext cx="5048250" cy="196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3"/>
          <p:cNvSpPr txBox="1">
            <a:spLocks noChangeArrowheads="1"/>
          </p:cNvSpPr>
          <p:nvPr/>
        </p:nvSpPr>
        <p:spPr bwMode="auto">
          <a:xfrm>
            <a:off x="1676400" y="2270125"/>
            <a:ext cx="10693400" cy="1143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>
              <a:defRPr/>
            </a:pP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Faculty of Science &amp; Technology</a:t>
            </a:r>
            <a:endParaRPr lang="en-US" altLang="en-US" sz="4200" b="1" kern="0" dirty="0">
              <a:solidFill>
                <a:schemeClr val="accent5">
                  <a:lumMod val="25000"/>
                </a:schemeClr>
              </a:solidFill>
              <a:latin typeface="Calibri" panose="020F0502020204030204" pitchFamily="34" charset="0"/>
            </a:endParaRPr>
          </a:p>
          <a:p>
            <a:pPr>
              <a:defRPr/>
            </a:pP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Jagran School of Computer Application</a:t>
            </a:r>
            <a:br>
              <a:rPr lang="en-US" altLang="en-US" sz="4200" b="1" kern="0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  <a:t>                                                            </a:t>
            </a: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endParaRPr lang="en-US" altLang="en-US" sz="4200" b="1" kern="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26629" name="TextBox 10"/>
          <p:cNvSpPr txBox="1">
            <a:spLocks noChangeArrowheads="1"/>
          </p:cNvSpPr>
          <p:nvPr/>
        </p:nvSpPr>
        <p:spPr bwMode="auto">
          <a:xfrm>
            <a:off x="4087020" y="3697288"/>
            <a:ext cx="5035550" cy="6299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sz="3500"/>
              <a:t>Major </a:t>
            </a:r>
            <a:r>
              <a:rPr lang="en-US" sz="3500" dirty="0"/>
              <a:t>Project Presentation</a:t>
            </a:r>
            <a:endParaRPr lang="en-US" sz="3500" dirty="0"/>
          </a:p>
        </p:txBody>
      </p:sp>
      <p:sp>
        <p:nvSpPr>
          <p:cNvPr id="26630" name="TextBox 11"/>
          <p:cNvSpPr txBox="1">
            <a:spLocks noChangeArrowheads="1"/>
          </p:cNvSpPr>
          <p:nvPr/>
        </p:nvSpPr>
        <p:spPr bwMode="auto">
          <a:xfrm>
            <a:off x="4995863" y="4495800"/>
            <a:ext cx="6419850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en-US" altLang="en-US" sz="4400" b="1">
                <a:latin typeface="Calibri" panose="020F0502020204030204" pitchFamily="34" charset="0"/>
                <a:cs typeface="Calibri" panose="020F0502020204030204" pitchFamily="34" charset="0"/>
              </a:rPr>
              <a:t>Personal Finance Manager</a:t>
            </a:r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4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31" name="TextBox 12"/>
          <p:cNvSpPr txBox="1">
            <a:spLocks noChangeArrowheads="1"/>
          </p:cNvSpPr>
          <p:nvPr/>
        </p:nvSpPr>
        <p:spPr bwMode="auto">
          <a:xfrm>
            <a:off x="1473200" y="6662738"/>
            <a:ext cx="5034280" cy="28613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Yugansh Garg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Asst. Prof., Dept. of CSE,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JLU-FAST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32" name="TextBox 13"/>
          <p:cNvSpPr txBox="1">
            <a:spLocks noChangeArrowheads="1"/>
          </p:cNvSpPr>
          <p:nvPr/>
        </p:nvSpPr>
        <p:spPr bwMode="auto">
          <a:xfrm>
            <a:off x="7341235" y="6705600"/>
            <a:ext cx="5565775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Zuhair Islam Jafri(2023BCAH063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051685" y="2016760"/>
            <a:ext cx="10654665" cy="4841240"/>
          </a:xfrm>
        </p:spPr>
        <p:txBody>
          <a:bodyPr/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sz="3680" dirty="0">
                <a:latin typeface="Calibri" panose="020F0502020204030204" pitchFamily="34" charset="0"/>
                <a:cs typeface="Calibri" panose="020F0502020204030204" pitchFamily="34" charset="0"/>
              </a:rPr>
              <a:t>Introduction </a:t>
            </a:r>
            <a:endParaRPr lang="en-US" sz="368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Importance and Need of Your Project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Contribution &amp; Role of Team Members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Features of your Project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Uniqueness of Project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Comparison with existing systems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Tools and Technologies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System/User requirements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Diagrams 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Snapshots of the system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Future work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pPr>
              <a:buFont typeface="Wingdings 2" panose="05020102010507070707" pitchFamily="18" charset="2"/>
              <a:buNone/>
            </a:pPr>
            <a:r>
              <a:rPr lang="en-US" sz="4000" dirty="0"/>
              <a:t>  </a:t>
            </a:r>
            <a:endParaRPr lang="en-US" sz="4000" dirty="0"/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20847-0DEC-4B56-AF04-E1606A8495B6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Man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students and professionals.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Existing apps are complex or require continuous internet access.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aging personal finance effectively is challenging for This app helps users record, analyze, and visualize income/expenses efficiently.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Focused on privacy, simplicity, and offline data management using JSON.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ym typeface="+mn-ea"/>
              </a:rPr>
              <a:t>Managing </a:t>
            </a:r>
            <a:endParaRPr lang="en-US" altLang="en-US"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DF365F-2B4E-4D13-91A1-3D0777D92EAD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&amp; Need of Your Project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Many people struggle to track and manage their spending habits.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Most existing finance apps demand sign-ups and online sync.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Need for an easy, secure, and offline-friendly tracker.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Useful for students, families, freelancers, and self-employed individuals.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B236B-D843-460E-9B08-27A6C6C7AE32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 of your Project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Add, edit, and delete income and expense transactions.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Category-wise visualization using Chart.js.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Local data storage using JSON with option for SQL/NoSQL integration.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Responsive interface designed with Bootstrap.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Budget goal tracking and monthly summary alerts.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DE0DCC-54CC-417F-8E5E-3E4F6E53ECD7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Uniquenes of Project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altLang="en-US" sz="5400">
                <a:latin typeface="Calibri" panose="020F0502020204030204" pitchFamily="34" charset="0"/>
                <a:cs typeface="Calibri" panose="020F0502020204030204" pitchFamily="34" charset="0"/>
              </a:rPr>
              <a:t>Real-time budget alerts.</a:t>
            </a:r>
            <a:endParaRPr lang="en-US" altLang="en-US" sz="5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5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Data visualization.</a:t>
            </a:r>
            <a:endParaRPr lang="en-US" altLang="en-US" sz="54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5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Personalized reports.</a:t>
            </a:r>
            <a:endParaRPr lang="en-US" altLang="en-US" sz="54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5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Financial awareness.</a:t>
            </a:r>
            <a:endParaRPr lang="en-US" altLang="en-US" sz="54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5400">
                <a:latin typeface="Calibri" panose="020F0502020204030204" pitchFamily="34" charset="0"/>
                <a:cs typeface="Calibri" panose="020F0502020204030204" pitchFamily="34" charset="0"/>
              </a:rPr>
              <a:t>Automated Tracking.</a:t>
            </a:r>
            <a:endParaRPr lang="en-US" altLang="en-US" sz="5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Comparison with Existing Systems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Manual tracking → boring, not real-time.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Other apps → limited, lack budget alerts/personalization.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Our app → Real-time tracking + Alerts + Reports + Easy UI.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and Technologies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Frontend: HTML, CSS, JavaScript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Database: JSON (local) – supports SQL/NoSQL integration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Libraries: Chart.js, Bootstrap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Development Environment: Visual Studio Code, GitHub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Testing &amp; Debugging: Browser Developer Tools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A9E228-5CF4-42CA-9F4C-53491775298C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System/User requirements 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OS: Windows, Linux, or macOS</a:t>
            </a: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Browser: Chrome, Edge, or Firefox</a:t>
            </a: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Node.js Runtime Environment installed</a:t>
            </a: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Internet: Only for setup and GitHub sync</a:t>
            </a: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Basic finance understanding for end-users</a:t>
            </a: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14003-694B-4BDF-99E7-63791028A110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Diagrams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>
                <a:latin typeface="Calibri" panose="020F0502020204030204" pitchFamily="34" charset="0"/>
                <a:cs typeface="Calibri" panose="020F0502020204030204" pitchFamily="34" charset="0"/>
              </a:rPr>
              <a:t>ER Diagram </a:t>
            </a:r>
            <a:endParaRPr 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/>
          </a:p>
          <a:p>
            <a:endParaRPr lang="en-US" sz="3200"/>
          </a:p>
          <a:p>
            <a:endParaRPr lang="en-US" sz="3200"/>
          </a:p>
          <a:p>
            <a:endParaRPr lang="en-US" sz="320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FA64B-E05D-487D-A0AE-1EC1FA0F8AE9}" type="slidenum">
              <a:rPr lang="en-US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4320" y="2590800"/>
            <a:ext cx="8584565" cy="5555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Diagrams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LEVEL 0 DATA FLOW DIAGRAM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8255" y="3347720"/>
            <a:ext cx="9041130" cy="48113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Diagrams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  <p:sp>
        <p:nvSpPr>
          <p:cNvPr id="8" name="Content Placeholder 7"/>
          <p:cNvSpPr/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Level 1 Data Flow Diagram (DFD)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5760" y="4038600"/>
            <a:ext cx="8157210" cy="38792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Snapshots of system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2041525" y="2059305"/>
            <a:ext cx="10664825" cy="4699635"/>
          </a:xfrm>
        </p:spPr>
        <p:txBody>
          <a:bodyPr/>
          <a:lstStyle/>
          <a:p>
            <a:pPr marL="117475" indent="0">
              <a:buNone/>
            </a:pPr>
            <a:r>
              <a:rPr lang="en-US" sz="3200"/>
              <a:t>                                                             </a:t>
            </a:r>
            <a:endParaRPr lang="en-US" sz="3200"/>
          </a:p>
          <a:p>
            <a:endParaRPr lang="en-US" sz="3200"/>
          </a:p>
          <a:p>
            <a:endParaRPr lang="en-US" sz="3200"/>
          </a:p>
          <a:p>
            <a:endParaRPr lang="en-US" sz="3200"/>
          </a:p>
          <a:p>
            <a:endParaRPr lang="en-US" sz="3200"/>
          </a:p>
          <a:p>
            <a:endParaRPr lang="en-US" sz="3200"/>
          </a:p>
          <a:p>
            <a:r>
              <a:rPr lang="en-US" sz="3200"/>
              <a:t>   </a:t>
            </a:r>
            <a:endParaRPr lang="en-US" sz="3200"/>
          </a:p>
          <a:p>
            <a:endParaRPr lang="en-US" sz="3200"/>
          </a:p>
          <a:p>
            <a:r>
              <a:rPr lang="en-US" sz="3200"/>
              <a:t>                                                     </a:t>
            </a:r>
            <a:endParaRPr lang="en-US" sz="320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2FBB2D-B164-4589-9E72-AA90F3FF5095}" type="slidenum">
              <a:rPr lang="en-US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1420" y="2629535"/>
            <a:ext cx="9290685" cy="351726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265" y="6066790"/>
            <a:ext cx="9263380" cy="35293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573405" lvl="1" indent="0">
              <a:buNone/>
            </a:pPr>
            <a:endParaRPr lang="en-US" altLang="en-US" sz="3475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Provides a Centralized , User friendly App.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Helps in tracking, analyzing, and optimizing finances.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Encourages savings &amp; prevents overspending.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Scalable &amp; practical solution for personal finance.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Helps Users Manage Money Efficiently. 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Helps in Develop Saving Habits 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Refrences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[1] Mozilla Developer Network (MDN) Web Docs. (2025). HTML CSS and JavaScript Documentation. Retrieved from 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https://developer.mozilla.org/  (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Accessed on 15 october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[2] W3Schools. (2025). JavaScript, HTML, CSS Tutorials and References. Retrieved from 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https://www.w3schools.com/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 (Accessed on 17 october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[3] Bootstrap (2025). Bootstrap Documentation, Retrieved from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https://getbootstrap.com/   (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Accessed on 18 October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[4] Chart.js (2025). Simple, yet flexible JavaScript charting for designers &amp; developers. Retrieved from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 https://www.charts.org/ 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  (Accessed on 21 October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[5] Stack Overflow (2025). Coding Solutions and Developer Community, Retrieved from 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https://stackoverflow.com/  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(Accessed on 25october 2025)</a:t>
            </a:r>
            <a:endParaRPr lang="en-US" altLang="en-US" sz="2000" u="sng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[6] Google Fonts (2025) Web Fonts and Typography Retrieved from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 https://fonts google.com/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(Accessed on 30 October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[7] Free Code Camp (2025). Responsive Web Design and JavaScript Algorithms. Retrieved from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 https://www.freecodecamp.org/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 (Accessed on 2 November2025)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[8]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JS0N.org. (2025) JavaScript Object Notation (ISON) Documentation. Retrieved from 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https://www.json.org/ 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( Accessed on 4 November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[9]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LocalStorage API Web APIs | MDN (2025). Using the LocalStorage API for Data Persistence Retrieved from 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https://developer.mozilla.org/en-US/docs/Web/API/Window/localStorage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(Accessed on 6 November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72755F-5E41-4CB4-A806-825AD38A65F3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Bullets">
  <a:themeElements>
    <a:clrScheme name="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Photo - Horizontal">
  <a:themeElements>
    <a:clrScheme name="Photo - Horizon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Photo - Horizontal Reflection">
  <a:themeElements>
    <a:clrScheme name="Photo - Horizont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Photo - Vertical">
  <a:themeElements>
    <a:clrScheme name="Photo - Vertic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Photo - Vertical Reflection">
  <a:themeElements>
    <a:clrScheme name="Photo - Vertic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Title - Top">
  <a:themeElements>
    <a:clrScheme name="Title - T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Title - Center">
  <a:themeElements>
    <a:clrScheme name="Title - Cen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_Title &amp; Bullets - Left">
  <a:themeElements>
    <a:clrScheme name="Title &amp; Bullets - Lef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Title &amp; Bullets - 2 Column">
  <a:themeElements>
    <a:clrScheme name="Title &amp; Bullets - 2 Colum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2 Colum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2 Colum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_Title &amp; Bullets - Right">
  <a:themeElements>
    <a:clrScheme name="Title &amp; Bullets - Righ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_Title, Bullets &amp; Photo">
  <a:themeElements>
    <a:clrScheme name="Title, Bullets &amp; Phot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4125</Words>
  <Application>WPS Presentation</Application>
  <PresentationFormat>Custom</PresentationFormat>
  <Paragraphs>219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15</vt:i4>
      </vt:variant>
      <vt:variant>
        <vt:lpstr>幻灯片标题</vt:lpstr>
      </vt:variant>
      <vt:variant>
        <vt:i4>15</vt:i4>
      </vt:variant>
    </vt:vector>
  </HeadingPairs>
  <TitlesOfParts>
    <vt:vector size="47" baseType="lpstr">
      <vt:lpstr>Arial</vt:lpstr>
      <vt:lpstr>SimSun</vt:lpstr>
      <vt:lpstr>Wingdings</vt:lpstr>
      <vt:lpstr>Gill Sans</vt:lpstr>
      <vt:lpstr>Segoe Print</vt:lpstr>
      <vt:lpstr>ヒラギノ角ゴ ProN W3</vt:lpstr>
      <vt:lpstr>Gill Sans</vt:lpstr>
      <vt:lpstr>ヒラギノ角ゴ ProN W3</vt:lpstr>
      <vt:lpstr>Gill Sans MT</vt:lpstr>
      <vt:lpstr>Wingdings 2</vt:lpstr>
      <vt:lpstr>Wingdings</vt:lpstr>
      <vt:lpstr>Verdana</vt:lpstr>
      <vt:lpstr>Wingdings 2</vt:lpstr>
      <vt:lpstr>Calibri</vt:lpstr>
      <vt:lpstr>Times New Roman</vt:lpstr>
      <vt:lpstr>Microsoft YaHei</vt:lpstr>
      <vt:lpstr>Arial Unicode MS</vt:lpstr>
      <vt:lpstr>Title &amp; Subtitle</vt:lpstr>
      <vt:lpstr>1_Title &amp; Bullets</vt:lpstr>
      <vt:lpstr>1_Blank</vt:lpstr>
      <vt:lpstr>1_Bullets</vt:lpstr>
      <vt:lpstr>1_Photo - Horizontal</vt:lpstr>
      <vt:lpstr>1_Photo - Horizontal Reflection</vt:lpstr>
      <vt:lpstr>1_Photo - Vertical</vt:lpstr>
      <vt:lpstr>1_Photo - Vertical Reflection</vt:lpstr>
      <vt:lpstr>1_Title - Top</vt:lpstr>
      <vt:lpstr>1_Title - Center</vt:lpstr>
      <vt:lpstr>1_Title &amp; Bullets - Left</vt:lpstr>
      <vt:lpstr>1_Title &amp; Bullets - 2 Column</vt:lpstr>
      <vt:lpstr>1_Title &amp; Bullets - Right</vt:lpstr>
      <vt:lpstr>1_Title, Bullets &amp; Photo</vt:lpstr>
      <vt:lpstr>Solstice</vt:lpstr>
      <vt:lpstr>PowerPoint 演示文稿</vt:lpstr>
      <vt:lpstr>Outline</vt:lpstr>
      <vt:lpstr>Introduction</vt:lpstr>
      <vt:lpstr>Importance &amp; Need of Your Project </vt:lpstr>
      <vt:lpstr>Features of your Project</vt:lpstr>
      <vt:lpstr>Uniquenes of Project</vt:lpstr>
      <vt:lpstr>Comparison with Existing Systems</vt:lpstr>
      <vt:lpstr>Tools and Technologies</vt:lpstr>
      <vt:lpstr>System/User requirements </vt:lpstr>
      <vt:lpstr>Diagrams</vt:lpstr>
      <vt:lpstr>Diagrams</vt:lpstr>
      <vt:lpstr>Diagrams</vt:lpstr>
      <vt:lpstr>Snapshots of system</vt:lpstr>
      <vt:lpstr>Conclusion</vt:lpstr>
      <vt:lpstr>Refrences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Nafy</dc:creator>
  <cp:lastModifiedBy>Zuhair Jafri</cp:lastModifiedBy>
  <cp:revision>1034</cp:revision>
  <dcterms:created xsi:type="dcterms:W3CDTF">2025-11-12T18:49:00Z</dcterms:created>
  <dcterms:modified xsi:type="dcterms:W3CDTF">2025-12-07T14:43:37Z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96989B994061434AA3F553CAACD98DD4_13</vt:lpwstr>
  </property>
  <property fmtid="{D5CDD505-2E9C-101B-9397-08002B2CF9AE}" pid="3" name="KSOProductBuildVer">
    <vt:lpwstr>1033-12.2.0.23155</vt:lpwstr>
  </property>
</Properties>
</file>
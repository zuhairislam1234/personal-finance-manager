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</p:sldMasterIdLst>
  <p:notesMasterIdLst>
    <p:notesMasterId r:id="rId33"/>
  </p:notesMasterIdLst>
  <p:handoutMasterIdLst>
    <p:handoutMasterId r:id="rId34"/>
  </p:handoutMasterIdLst>
  <p:sldIdLst>
    <p:sldId id="384" r:id="rId17"/>
    <p:sldId id="385" r:id="rId18"/>
    <p:sldId id="386" r:id="rId19"/>
    <p:sldId id="387" r:id="rId20"/>
    <p:sldId id="388" r:id="rId21"/>
    <p:sldId id="399" r:id="rId22"/>
    <p:sldId id="400" r:id="rId23"/>
    <p:sldId id="389" r:id="rId24"/>
    <p:sldId id="390" r:id="rId25"/>
    <p:sldId id="391" r:id="rId26"/>
    <p:sldId id="403" r:id="rId27"/>
    <p:sldId id="404" r:id="rId28"/>
    <p:sldId id="392" r:id="rId29"/>
    <p:sldId id="402" r:id="rId30"/>
    <p:sldId id="395" r:id="rId31"/>
    <p:sldId id="405" r:id="rId32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1" autoAdjust="0"/>
    <p:restoredTop sz="94444" autoAdjust="0"/>
  </p:normalViewPr>
  <p:slideViewPr>
    <p:cSldViewPr showGuides="1">
      <p:cViewPr varScale="1">
        <p:scale>
          <a:sx n="55" d="100"/>
          <a:sy n="55" d="100"/>
        </p:scale>
        <p:origin x="1306" y="43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16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slide" Target="slides/slide1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  <a:endParaRPr lang="en-US" noProof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8735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40" indent="0" algn="ctr">
              <a:buNone/>
            </a:lvl2pPr>
            <a:lvl3pPr marL="1300480" indent="0" algn="ctr">
              <a:buNone/>
            </a:lvl3pPr>
            <a:lvl4pPr marL="1950720" indent="0" algn="ctr">
              <a:buNone/>
            </a:lvl4pPr>
            <a:lvl5pPr marL="2600960" indent="0" algn="ctr">
              <a:buNone/>
            </a:lvl5pPr>
            <a:lvl6pPr marL="3251200" indent="0" algn="ctr">
              <a:buNone/>
            </a:lvl6pPr>
            <a:lvl7pPr marL="3901440" indent="0" algn="ctr">
              <a:buNone/>
            </a:lvl7pPr>
            <a:lvl8pPr marL="4551680" indent="0" algn="ctr">
              <a:buNone/>
            </a:lvl8pPr>
            <a:lvl9pPr marL="520192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BDEB5-21BE-4196-AA11-9092C303413C}" type="datetimeFigureOut">
              <a:rPr lang="en-US"/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764944-C5B7-48D6-B1ED-F475B7EAACE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35" indent="0">
              <a:lnSpc>
                <a:spcPts val="3270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7BE73-9272-4E7D-BD0B-5B5123F9D54D}" type="datetimeFigureOut">
              <a:rPr lang="en-US"/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05125-ACAC-42EB-9BF3-18B31522FE8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8BA07-7811-470C-A03E-FF3137DA5A6E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FD9E8-0C80-4830-885A-F2D3695FD3E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0805" indent="0" algn="l">
              <a:lnSpc>
                <a:spcPct val="100000"/>
              </a:lnSpc>
              <a:spcBef>
                <a:spcPts val="140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0805" indent="0" algn="l">
              <a:lnSpc>
                <a:spcPct val="100000"/>
              </a:lnSpc>
              <a:spcBef>
                <a:spcPts val="140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435" indent="-389890">
              <a:lnSpc>
                <a:spcPct val="100000"/>
              </a:lnSpc>
              <a:spcBef>
                <a:spcPts val="995"/>
              </a:spcBef>
              <a:defRPr sz="3400"/>
            </a:lvl1pPr>
            <a:lvl2pPr>
              <a:lnSpc>
                <a:spcPct val="100000"/>
              </a:lnSpc>
              <a:spcBef>
                <a:spcPts val="995"/>
              </a:spcBef>
              <a:defRPr sz="2800"/>
            </a:lvl2pPr>
            <a:lvl3pPr>
              <a:lnSpc>
                <a:spcPct val="100000"/>
              </a:lnSpc>
              <a:spcBef>
                <a:spcPts val="995"/>
              </a:spcBef>
              <a:defRPr sz="2600"/>
            </a:lvl3pPr>
            <a:lvl4pPr>
              <a:lnSpc>
                <a:spcPct val="100000"/>
              </a:lnSpc>
              <a:spcBef>
                <a:spcPts val="995"/>
              </a:spcBef>
              <a:defRPr sz="2300"/>
            </a:lvl4pPr>
            <a:lvl5pPr>
              <a:lnSpc>
                <a:spcPct val="100000"/>
              </a:lnSpc>
              <a:spcBef>
                <a:spcPts val="995"/>
              </a:spcBef>
              <a:defRPr sz="2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435" indent="-389890">
              <a:lnSpc>
                <a:spcPct val="100000"/>
              </a:lnSpc>
              <a:spcBef>
                <a:spcPts val="995"/>
              </a:spcBef>
              <a:defRPr sz="3400"/>
            </a:lvl1pPr>
            <a:lvl2pPr>
              <a:lnSpc>
                <a:spcPct val="100000"/>
              </a:lnSpc>
              <a:spcBef>
                <a:spcPts val="995"/>
              </a:spcBef>
              <a:defRPr sz="2800"/>
            </a:lvl2pPr>
            <a:lvl3pPr>
              <a:lnSpc>
                <a:spcPct val="100000"/>
              </a:lnSpc>
              <a:spcBef>
                <a:spcPts val="995"/>
              </a:spcBef>
              <a:defRPr sz="2600"/>
            </a:lvl3pPr>
            <a:lvl4pPr>
              <a:lnSpc>
                <a:spcPct val="100000"/>
              </a:lnSpc>
              <a:spcBef>
                <a:spcPts val="995"/>
              </a:spcBef>
              <a:defRPr sz="2300"/>
            </a:lvl4pPr>
            <a:lvl5pPr>
              <a:lnSpc>
                <a:spcPct val="100000"/>
              </a:lnSpc>
              <a:spcBef>
                <a:spcPts val="995"/>
              </a:spcBef>
              <a:defRPr sz="2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344DF-F2D8-47D3-A1A2-F2BA0FADDC8A}" type="datetimeFigureOut">
              <a:rPr lang="en-US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8F286-D16D-4C14-B8C1-AEB3377F720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9FE42-4D97-47DA-9957-FC4B88B7382D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1C867-080A-4421-B3AD-97329B9D265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39010-9E70-434F-A0A0-C5EA2E7FE0D2}" type="datetimeFigureOut">
              <a:rPr lang="en-US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CA93D-A4F4-438E-AA12-7363D9CB7AD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5"/>
              </a:lnSpc>
              <a:buNone/>
              <a:defRPr sz="3100" b="1" cap="all" baseline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477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28399-7386-45A7-8834-486F4B94D802}" type="datetimeFigureOut">
              <a:rPr lang="en-US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26C98-457C-495A-885B-B51F77EFA8F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225" eaLnBrk="1" hangingPunct="1">
              <a:lnSpc>
                <a:spcPts val="4265"/>
              </a:lnSpc>
              <a:spcBef>
                <a:spcPts val="855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5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DB0DE-08A5-43FF-9FCD-FB364DA9D449}" type="datetimeFigureOut">
              <a:rPr lang="en-US"/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714D2-3A5C-4C10-82C3-6BCA2647EE0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5A56A-3571-4FE4-B376-55F94E1FCB76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08728-4636-4AE1-87CF-7D261829F0F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A1504-0073-45D4-9420-14AEEB73A9D9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0F4B8-5C48-49EB-A75F-18DE72FA2C0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2" Type="http://schemas.openxmlformats.org/officeDocument/2006/relationships/theme" Target="../theme/theme15.xml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b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t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  <a:endParaRPr lang="en-US" altLang="en-US">
              <a:sym typeface="Gill Sans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50800" tIns="50800" rIns="50800" bIns="50800" numCol="1" anchor="ctr" anchorCtr="0" compatLnSpc="1"/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  <a:endParaRPr lang="en-US" altLang="en-US">
              <a:sym typeface="Gill Sans"/>
            </a:endParaRPr>
          </a:p>
          <a:p>
            <a:pPr lvl="1"/>
            <a:r>
              <a:rPr lang="en-US" altLang="en-US">
                <a:sym typeface="Gill Sans"/>
              </a:rPr>
              <a:t>Second level</a:t>
            </a:r>
            <a:endParaRPr lang="en-US" altLang="en-US">
              <a:sym typeface="Gill Sans"/>
            </a:endParaRPr>
          </a:p>
          <a:p>
            <a:pPr lvl="2"/>
            <a:r>
              <a:rPr lang="en-US" altLang="en-US">
                <a:sym typeface="Gill Sans"/>
              </a:rPr>
              <a:t>Third level</a:t>
            </a:r>
            <a:endParaRPr lang="en-US" altLang="en-US">
              <a:sym typeface="Gill Sans"/>
            </a:endParaRPr>
          </a:p>
          <a:p>
            <a:pPr lvl="3"/>
            <a:r>
              <a:rPr lang="en-US" altLang="en-US">
                <a:sym typeface="Gill Sans"/>
              </a:rPr>
              <a:t>Fourth level</a:t>
            </a:r>
            <a:endParaRPr lang="en-US" altLang="en-US">
              <a:sym typeface="Gill Sans"/>
            </a:endParaRPr>
          </a:p>
          <a:p>
            <a:pPr lvl="4"/>
            <a:r>
              <a:rPr lang="en-US" altLang="en-US">
                <a:sym typeface="Gill Sans"/>
              </a:rPr>
              <a:t>Fifth level</a:t>
            </a:r>
            <a:endParaRPr lang="en-US" altLang="en-US">
              <a:sym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5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42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730" indent="-494030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9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31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3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530" indent="-494030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30046" tIns="65023" rIns="130046" bIns="65023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pPr>
              <a:defRPr/>
            </a:pPr>
            <a:fld id="{DF934E36-D68C-41C0-B698-58393200FF86}" type="datetimeFigureOut">
              <a:rPr lang="en-US"/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pPr>
              <a:defRPr/>
            </a:pPr>
            <a:fld id="{0AF91225-6B8A-4A10-AFA6-F845D109664A}" type="slidenum">
              <a:rPr lang="en-US"/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anose="020B0502020104020203" charset="0"/>
        </a:defRPr>
      </a:lvl9pPr>
    </p:titleStyle>
    <p:bodyStyle>
      <a:lvl1pPr marL="519430" indent="-401955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955" indent="-336550" algn="l" rtl="0" fontAlgn="base">
        <a:spcBef>
          <a:spcPts val="79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830" indent="-246380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580" indent="-259080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665" indent="-26035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750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1135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220" indent="-26035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4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9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5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1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Faculty of Science &amp; Technology</a:t>
            </a:r>
            <a:endParaRPr lang="en-US" altLang="en-US" sz="4200" b="1" kern="0" dirty="0">
              <a:solidFill>
                <a:schemeClr val="accent5">
                  <a:lumMod val="25000"/>
                </a:schemeClr>
              </a:solidFill>
              <a:latin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Computer Application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29" name="TextBox 10"/>
          <p:cNvSpPr txBox="1">
            <a:spLocks noChangeArrowheads="1"/>
          </p:cNvSpPr>
          <p:nvPr/>
        </p:nvSpPr>
        <p:spPr bwMode="auto">
          <a:xfrm>
            <a:off x="4087020" y="3697288"/>
            <a:ext cx="5035550" cy="6299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sz="3500"/>
              <a:t>Major </a:t>
            </a:r>
            <a:r>
              <a:rPr lang="en-US" sz="3500" dirty="0"/>
              <a:t>Project Presentation</a:t>
            </a:r>
            <a:endParaRPr lang="en-US" sz="3500" dirty="0"/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4995863" y="4495800"/>
            <a:ext cx="641985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/>
            <a:r>
              <a:rPr lang="en-US" altLang="en-US" sz="4400" b="1">
                <a:latin typeface="Calibri" panose="020F0502020204030204" pitchFamily="34" charset="0"/>
                <a:cs typeface="Calibri" panose="020F0502020204030204" pitchFamily="34" charset="0"/>
              </a:rPr>
              <a:t>Personal Finance Manager</a:t>
            </a:r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73200" y="6662738"/>
            <a:ext cx="5034280" cy="28613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Yugansh Garg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Prof., Dept. of CSE,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JLU-FAST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7341235" y="6705600"/>
            <a:ext cx="5565775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Zuhair Islam Jafri(2023BCAH063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51685" y="2016760"/>
            <a:ext cx="10654665" cy="4841240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sz="3680" dirty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  <a:endParaRPr lang="en-US" sz="368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Importance and Need of Your Project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Contribution &amp; Role of Team Members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your Project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Uniqueness of Project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Comparison with existing systems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Tools and Technologies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System/User requirements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Diagrams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Snapshots of the system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pPr>
              <a:buFont typeface="Wingdings 2" panose="05020102010507070707" pitchFamily="18" charset="2"/>
              <a:buNone/>
            </a:pPr>
            <a:r>
              <a:rPr lang="en-US" sz="4000" dirty="0"/>
              <a:t>  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Man</a:t>
            </a: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students and professionals.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Existing apps are complex or require continuous internet access.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aging personal finance effectively is challenging for This app helps users record, analyze, and visualize income/expenses efficiently.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Focused on privacy, simplicity, and offline data management using JSON.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ym typeface="+mn-ea"/>
              </a:rPr>
              <a:t>Managing </a:t>
            </a:r>
            <a:endParaRPr lang="en-US" altLang="en-US"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F365F-2B4E-4D13-91A1-3D0777D92EAD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&amp; Need of Your Project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Many people struggle to track and manage their spending habits.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Most existing finance apps demand sign-ups and online sync.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Need for an easy, secure, and offline-friendly tracker.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Useful for students, families, freelancers, and self-employed individuals.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of your Project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Add, edit, and delete income and expense transactions.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Category-wise visualization using Chart.js.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Local data storage using JSON with option for SQL/NoSQL integration.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Responsive interface designed with Bootstrap.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Budget goal tracking and monthly summary alerts.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Uniquenes of Project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</a:rPr>
              <a:t>Real-time budget alerts.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Data visualization.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Personalized reports.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Financial awareness.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5400">
                <a:latin typeface="Calibri" panose="020F0502020204030204" pitchFamily="34" charset="0"/>
                <a:cs typeface="Calibri" panose="020F0502020204030204" pitchFamily="34" charset="0"/>
              </a:rPr>
              <a:t>Automated Tracking.</a:t>
            </a:r>
            <a:endParaRPr lang="en-US" altLang="en-US" sz="5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Comparison with Existing Systems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Manual tracking → boring, not real-time.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Other apps → limited, lack budget alerts/personalization.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Our app → Real-time tracking + Alerts + Reports + Easy UI.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Technologies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Frontend: HTML, CSS, JavaScript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Database: JSON (local) – supports SQL/NoSQL integration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Libraries: Chart.js, Bootstrap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Development Environment: Visual Studio Code, GitHub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400">
                <a:latin typeface="Calibri" panose="020F0502020204030204" pitchFamily="34" charset="0"/>
                <a:cs typeface="Calibri" panose="020F0502020204030204" pitchFamily="34" charset="0"/>
              </a:rPr>
              <a:t>Testing &amp; Debugging: Browser Developer Tools</a:t>
            </a:r>
            <a:endParaRPr lang="en-US" altLang="en-US" sz="4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System/User requirements 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OS: Windows, Linux, or macOS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Browser: Chrome, Edge, or Firefox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Node.js Runtime Environment installed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Internet: Only for setup and GitHub sync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4000">
                <a:latin typeface="Calibri" panose="020F0502020204030204" pitchFamily="34" charset="0"/>
                <a:cs typeface="Calibri" panose="020F0502020204030204" pitchFamily="34" charset="0"/>
              </a:rPr>
              <a:t>Basic finance understanding for end-users</a:t>
            </a:r>
            <a:endParaRPr lang="en-US" altLang="en-US" sz="4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Diagrams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>
                <a:latin typeface="Calibri" panose="020F0502020204030204" pitchFamily="34" charset="0"/>
                <a:cs typeface="Calibri" panose="020F0502020204030204" pitchFamily="34" charset="0"/>
              </a:rPr>
              <a:t>ER Diagram </a:t>
            </a:r>
            <a:endParaRPr 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4320" y="2590800"/>
            <a:ext cx="8584565" cy="5555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Diagrams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LEVEL 0 DATA FLOW DIAGRAM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8255" y="3347720"/>
            <a:ext cx="9041130" cy="48113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Diagrams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  <p:sp>
        <p:nvSpPr>
          <p:cNvPr id="8" name="Content Placeholder 7"/>
          <p:cNvSpPr/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Level 1 Data Flow Diagram (DFD)</a:t>
            </a:r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5760" y="4038600"/>
            <a:ext cx="8157210" cy="3879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Snapshots of system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2041525" y="2059305"/>
            <a:ext cx="10664825" cy="4699635"/>
          </a:xfrm>
        </p:spPr>
        <p:txBody>
          <a:bodyPr/>
          <a:lstStyle/>
          <a:p>
            <a:pPr marL="117475" indent="0">
              <a:buNone/>
            </a:pPr>
            <a:r>
              <a:rPr lang="en-US" sz="3200"/>
              <a:t>                                                             </a:t>
            </a:r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endParaRPr lang="en-US" sz="3200"/>
          </a:p>
          <a:p>
            <a:r>
              <a:rPr lang="en-US" sz="3200"/>
              <a:t>   </a:t>
            </a:r>
            <a:endParaRPr lang="en-US" sz="3200"/>
          </a:p>
          <a:p>
            <a:endParaRPr lang="en-US" sz="3200"/>
          </a:p>
          <a:p>
            <a:r>
              <a:rPr lang="en-US" sz="3200"/>
              <a:t>                                                     </a:t>
            </a:r>
            <a:endParaRPr lang="en-US"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FBB2D-B164-4589-9E72-AA90F3FF5095}" type="slidenum">
              <a:rPr lang="en-US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1420" y="2629535"/>
            <a:ext cx="9290685" cy="351726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65" y="6066790"/>
            <a:ext cx="9263380" cy="35293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573405" lvl="1" indent="0">
              <a:buNone/>
            </a:pPr>
            <a:endParaRPr lang="en-US" altLang="en-US" sz="3475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Provides a Centralized , User friendly App.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Helps in tracking, analyzing, and optimizing finances.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Encourages savings &amp; prevents overspending.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Scalable &amp; practical solution for personal finance.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Helps Users Manage Money Efficiently. 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>
                <a:latin typeface="Calibri" panose="020F0502020204030204" pitchFamily="34" charset="0"/>
                <a:cs typeface="Calibri" panose="020F0502020204030204" pitchFamily="34" charset="0"/>
              </a:rPr>
              <a:t>Helps in Develop Saving Habits .</a:t>
            </a: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Refrences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[1] Mozilla Developer Network (MDN) Web Docs. (2025). HTML CSS and JavaScript Documentation.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https://developer.mozilla.org/  (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Accessed on 15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[2] W3Schools. (2025). JavaScript, HTML, CSS Tutorials and References.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https://www.w3schools.com/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(Accessed on 17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[3] Bootstrap (2025). Bootstrap Documentation,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https://getbootstrap.com/   (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Accessed on 18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[4] Chart.js (2025). Simple, yet flexible JavaScript charting for designers &amp; developers.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https://www.charts.org/ 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 (Accessed on 21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[5] Stack Overflow (2025). Coding Solutions and Developer Community,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https://stackoverflow.com/  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(Accessed on 25october 2025)</a:t>
            </a:r>
            <a:endParaRPr lang="en-US" altLang="en-US" sz="2000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[6] Google Fonts (2025) Web Fonts and Typography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https://fonts google.com/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(Accessed on 30 October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[7] Free Code Camp (2025). Responsive Web Design and JavaScript Algorithms. Retrieved from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 https://www.freecodecamp.org/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(Accessed on 2 November2025)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[8]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JS0N.org. (2025) JavaScript Object Notation (ISON) Documentation.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https://www.json.org/ 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( Accessed on 4 November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[9]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LocalStorage API Web APIs | MDN (2025). Using the LocalStorage API for Data Persistence Retrieved from </a:t>
            </a:r>
            <a:r>
              <a:rPr lang="en-US" altLang="en-US" sz="2000" u="sng">
                <a:latin typeface="Calibri" panose="020F0502020204030204" pitchFamily="34" charset="0"/>
                <a:cs typeface="Calibri" panose="020F0502020204030204" pitchFamily="34" charset="0"/>
              </a:rPr>
              <a:t>https://developer.mozilla.org/en-US/docs/Web/API/Window/localStorage 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(Accessed on 6 November 2025)</a:t>
            </a:r>
            <a:endParaRPr lang="en-US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72755F-5E41-4CB4-A806-825AD38A65F3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4445"/>
              <a:t>APPENDICES(include Github Repository Link)</a:t>
            </a:r>
            <a:endParaRPr lang="en-US" sz="4445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C64042A7-7EE0-4F71-BA51-7A1EB736E935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2E2A515E-3E39-4365-9B98-DF9661207824}" type="slidenum">
              <a:rPr lang="en-US"/>
            </a:fld>
            <a:endParaRPr lang="en-US"/>
          </a:p>
        </p:txBody>
      </p:sp>
      <p:sp>
        <p:nvSpPr>
          <p:cNvPr id="8" name="Content Placeholder 7"/>
          <p:cNvSpPr/>
          <p:nvPr>
            <p:ph idx="1"/>
          </p:nvPr>
        </p:nvSpPr>
        <p:spPr/>
        <p:txBody>
          <a:bodyPr/>
          <a:p>
            <a:pPr marL="117475" indent="0">
              <a:buFont typeface="Arial" panose="020B0604020202020204" pitchFamily="34" charset="0"/>
              <a:buNone/>
            </a:pPr>
            <a:r>
              <a:rPr lang="en-US" altLang="en-US" sz="3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600">
                <a:latin typeface="Calibri" panose="020F0502020204030204" pitchFamily="34" charset="0"/>
                <a:cs typeface="Calibri" panose="020F0502020204030204" pitchFamily="34" charset="0"/>
              </a:rPr>
              <a:t>https://github.com/zuhairislam1234/Personal-Finance-Manager.git</a:t>
            </a:r>
            <a:endParaRPr lang="en-US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4233</Words>
  <Application>WPS Presentation</Application>
  <PresentationFormat>Custom</PresentationFormat>
  <Paragraphs>228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15</vt:i4>
      </vt:variant>
      <vt:variant>
        <vt:lpstr>幻灯片标题</vt:lpstr>
      </vt:variant>
      <vt:variant>
        <vt:i4>16</vt:i4>
      </vt:variant>
    </vt:vector>
  </HeadingPairs>
  <TitlesOfParts>
    <vt:vector size="50" baseType="lpstr">
      <vt:lpstr>Arial</vt:lpstr>
      <vt:lpstr>SimSun</vt:lpstr>
      <vt:lpstr>Wingdings</vt:lpstr>
      <vt:lpstr>Gill Sans</vt:lpstr>
      <vt:lpstr>Segoe Print</vt:lpstr>
      <vt:lpstr>ヒラギノ角ゴ ProN W3</vt:lpstr>
      <vt:lpstr>Gill Sans</vt:lpstr>
      <vt:lpstr>ヒラギノ角ゴ ProN W3</vt:lpstr>
      <vt:lpstr>Gill Sans MT</vt:lpstr>
      <vt:lpstr>Wingdings 2</vt:lpstr>
      <vt:lpstr>Wingdings</vt:lpstr>
      <vt:lpstr>Verdana</vt:lpstr>
      <vt:lpstr>Wingdings 2</vt:lpstr>
      <vt:lpstr>Calibri</vt:lpstr>
      <vt:lpstr>Times New Roman</vt:lpstr>
      <vt:lpstr>Microsoft YaHei</vt:lpstr>
      <vt:lpstr>Arial Unicode MS</vt:lpstr>
      <vt:lpstr>Bahnschrift</vt:lpstr>
      <vt:lpstr>Calibri Light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演示文稿</vt:lpstr>
      <vt:lpstr>Outline</vt:lpstr>
      <vt:lpstr>Introduction</vt:lpstr>
      <vt:lpstr>Importance &amp; Need of Your Project </vt:lpstr>
      <vt:lpstr>Features of your Project</vt:lpstr>
      <vt:lpstr>Uniquenes of Project</vt:lpstr>
      <vt:lpstr>Comparison with Existing Systems</vt:lpstr>
      <vt:lpstr>Tools and Technologies</vt:lpstr>
      <vt:lpstr>System/User requirements </vt:lpstr>
      <vt:lpstr>Diagrams</vt:lpstr>
      <vt:lpstr>Diagrams</vt:lpstr>
      <vt:lpstr>Diagrams</vt:lpstr>
      <vt:lpstr>Snapshots of system</vt:lpstr>
      <vt:lpstr>Conclusion</vt:lpstr>
      <vt:lpstr>Refrences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Zuhair Jafri</cp:lastModifiedBy>
  <cp:revision>1035</cp:revision>
  <dcterms:created xsi:type="dcterms:W3CDTF">2025-11-12T18:49:00Z</dcterms:created>
  <dcterms:modified xsi:type="dcterms:W3CDTF">2025-12-07T19:23:37Z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96989B994061434AA3F553CAACD98DD4_13</vt:lpwstr>
  </property>
  <property fmtid="{D5CDD505-2E9C-101B-9397-08002B2CF9AE}" pid="3" name="KSOProductBuildVer">
    <vt:lpwstr>1033-12.2.0.23155</vt:lpwstr>
  </property>
</Properties>
</file>